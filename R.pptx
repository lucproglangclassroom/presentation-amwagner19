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64" r:id="rId7"/>
    <p:sldId id="260" r:id="rId8"/>
    <p:sldId id="261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59"/>
  </p:normalViewPr>
  <p:slideViewPr>
    <p:cSldViewPr snapToGrid="0" snapToObjects="1">
      <p:cViewPr varScale="1">
        <p:scale>
          <a:sx n="113" d="100"/>
          <a:sy n="113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vidvan.com/tutorials/r-features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-bloggers.com/2020/12/stability-portability-and-flexibility-trade-offs/" TargetMode="External"/><Relationship Id="rId4" Type="http://schemas.openxmlformats.org/officeDocument/2006/relationships/hyperlink" Target="https://bookdown.org/csgillespie/efficientR/programming.html#the-byte-compil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AD2B-F1F1-F941-B124-DB98A999CB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BAE5E-A275-3C4D-90B1-19962BDBC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 Wagner</a:t>
            </a:r>
          </a:p>
        </p:txBody>
      </p:sp>
    </p:spTree>
    <p:extLst>
      <p:ext uri="{BB962C8B-B14F-4D97-AF65-F5344CB8AC3E}">
        <p14:creationId xmlns:p14="http://schemas.microsoft.com/office/powerpoint/2010/main" val="408525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C06E-51D5-5846-AE86-360E5853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A36F4-DA60-A44E-BA91-7AF4FEDD6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Began as an independent S-PLUS implementation</a:t>
            </a:r>
          </a:p>
          <a:p>
            <a:pPr lvl="1" fontAlgn="base"/>
            <a:r>
              <a:rPr lang="en-US" dirty="0"/>
              <a:t>S-PLUS is a commercial version of S</a:t>
            </a:r>
          </a:p>
          <a:p>
            <a:pPr lvl="1" fontAlgn="base"/>
            <a:r>
              <a:rPr lang="en-US" dirty="0"/>
              <a:t>Most S-PLUS code can run un-altered in R </a:t>
            </a:r>
          </a:p>
          <a:p>
            <a:pPr lvl="1" fontAlgn="base"/>
            <a:r>
              <a:rPr lang="en-US" dirty="0"/>
              <a:t>Developed by Ross Ihaka and Robert Gentleman (University of Auckland, NZ) in 1991</a:t>
            </a:r>
          </a:p>
          <a:p>
            <a:pPr lvl="1" fontAlgn="base"/>
            <a:r>
              <a:rPr lang="en-US" dirty="0"/>
              <a:t>Started publicizing in 1993</a:t>
            </a:r>
          </a:p>
          <a:p>
            <a:pPr lvl="1" fontAlgn="base"/>
            <a:r>
              <a:rPr lang="en-US" dirty="0"/>
              <a:t>Became free and open source in 1995</a:t>
            </a:r>
          </a:p>
          <a:p>
            <a:pPr fontAlgn="base"/>
            <a:r>
              <a:rPr lang="en-US" dirty="0"/>
              <a:t>Supported by the R Core team and R Foundation for Statistical Computing</a:t>
            </a:r>
          </a:p>
          <a:p>
            <a:pPr lvl="1" fontAlgn="base"/>
            <a:r>
              <a:rPr lang="en-US" dirty="0"/>
              <a:t>R Core Team developed in 1997 to further develop language</a:t>
            </a:r>
          </a:p>
          <a:p>
            <a:pPr fontAlgn="base"/>
            <a:r>
              <a:rPr lang="en-US" dirty="0"/>
              <a:t>Free to download and use</a:t>
            </a:r>
          </a:p>
          <a:p>
            <a:pPr fontAlgn="base"/>
            <a:r>
              <a:rPr lang="en-US" dirty="0"/>
              <a:t>Written in C, Fortran, and R (partially self-hosting) 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92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96E5-6ACF-1445-B5A2-A400FAFB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7939F-DB0A-1347-B52B-BB0A3B469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Used for statistical computing and graphics</a:t>
            </a:r>
          </a:p>
          <a:p>
            <a:pPr fontAlgn="base"/>
            <a:r>
              <a:rPr lang="en-US" dirty="0"/>
              <a:t>Primarily used by statisticians and data scientists</a:t>
            </a:r>
          </a:p>
          <a:p>
            <a:pPr fontAlgn="base"/>
            <a:r>
              <a:rPr lang="en-US" dirty="0"/>
              <a:t>Created as a language that felt like S, but had better handling for: </a:t>
            </a:r>
          </a:p>
          <a:p>
            <a:pPr lvl="1" fontAlgn="base"/>
            <a:r>
              <a:rPr lang="en-US" dirty="0"/>
              <a:t>Memory Management</a:t>
            </a:r>
          </a:p>
          <a:p>
            <a:pPr lvl="2" fontAlgn="base"/>
            <a:r>
              <a:rPr lang="en-US" dirty="0"/>
              <a:t>Fixed memory to help with heap overgrowth</a:t>
            </a:r>
          </a:p>
          <a:p>
            <a:pPr lvl="1" fontAlgn="base"/>
            <a:r>
              <a:rPr lang="en-US" dirty="0"/>
              <a:t>Scoping</a:t>
            </a:r>
          </a:p>
          <a:p>
            <a:pPr lvl="2" fontAlgn="base"/>
            <a:r>
              <a:rPr lang="en-US" dirty="0"/>
              <a:t>Lexically scoped: can only be called from the block in which it is defined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4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59E6-F851-754C-B144-B8FED304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example!</a:t>
            </a:r>
          </a:p>
        </p:txBody>
      </p:sp>
    </p:spTree>
    <p:extLst>
      <p:ext uri="{BB962C8B-B14F-4D97-AF65-F5344CB8AC3E}">
        <p14:creationId xmlns:p14="http://schemas.microsoft.com/office/powerpoint/2010/main" val="936606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13F4-1BA5-964E-8682-8376C4AC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5D02E-C129-B343-8EF8-1EBE4642E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A4779-F6DA-B448-8A3D-613F5872F8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Functions as first class objects</a:t>
            </a:r>
          </a:p>
          <a:p>
            <a:r>
              <a:rPr lang="en-US" dirty="0"/>
              <a:t>Lazy function calls</a:t>
            </a:r>
          </a:p>
          <a:p>
            <a:r>
              <a:rPr lang="en-US" dirty="0"/>
              <a:t>Referential transparency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9B8CB-FA4D-F043-B6FD-D7BC8FBB7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Object Oriented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6D5DF-95B8-8940-900C-95A9153431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Object use comes from S</a:t>
            </a:r>
          </a:p>
          <a:p>
            <a:r>
              <a:rPr lang="en-US" dirty="0"/>
              <a:t>Ad-hoc polymorphism from S3</a:t>
            </a:r>
          </a:p>
          <a:p>
            <a:r>
              <a:rPr lang="en-US" dirty="0"/>
              <a:t>Proper classes and multi-methods from S4</a:t>
            </a:r>
          </a:p>
        </p:txBody>
      </p:sp>
    </p:spTree>
    <p:extLst>
      <p:ext uri="{BB962C8B-B14F-4D97-AF65-F5344CB8AC3E}">
        <p14:creationId xmlns:p14="http://schemas.microsoft.com/office/powerpoint/2010/main" val="3925691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4785-DC75-DD43-942E-4CFCC548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895A2-D8CF-C148-8C9B-42AD4DD0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Simplicity: simple to use and learn about</a:t>
            </a:r>
          </a:p>
          <a:p>
            <a:r>
              <a:rPr lang="en-US" dirty="0"/>
              <a:t>Labeling: especially apparent in manipulation of data frames </a:t>
            </a:r>
          </a:p>
          <a:p>
            <a:r>
              <a:rPr lang="en-US" dirty="0"/>
              <a:t>Regularity: regular rules for implementation help with simplicity</a:t>
            </a:r>
          </a:p>
          <a:p>
            <a:r>
              <a:rPr lang="en-US" dirty="0"/>
              <a:t>Syntactic Consistency: many functions can be used on different data structures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0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1557-7521-764E-9A84-A615ED04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D99F-FC33-154C-A646-F292B0CB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Readability: 5/5</a:t>
            </a:r>
          </a:p>
          <a:p>
            <a:pPr fontAlgn="base"/>
            <a:r>
              <a:rPr lang="en-US" dirty="0"/>
              <a:t>Writability: 5/5</a:t>
            </a:r>
          </a:p>
          <a:p>
            <a:pPr fontAlgn="base"/>
            <a:r>
              <a:rPr lang="en-US" dirty="0"/>
              <a:t>Reliability: 2/5</a:t>
            </a:r>
          </a:p>
          <a:p>
            <a:pPr fontAlgn="base"/>
            <a:r>
              <a:rPr lang="en-US" dirty="0"/>
              <a:t>Cost: 5/5 </a:t>
            </a:r>
          </a:p>
        </p:txBody>
      </p:sp>
    </p:spTree>
    <p:extLst>
      <p:ext uri="{BB962C8B-B14F-4D97-AF65-F5344CB8AC3E}">
        <p14:creationId xmlns:p14="http://schemas.microsoft.com/office/powerpoint/2010/main" val="430653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F8ED-FE01-704B-BD73-9ACFE872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7B23D-DB52-D44A-98E0-B55CEBABA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Portability: 3/5</a:t>
            </a:r>
          </a:p>
          <a:p>
            <a:pPr fontAlgn="base"/>
            <a:r>
              <a:rPr lang="en-US" dirty="0"/>
              <a:t>Generality: 5/5</a:t>
            </a:r>
          </a:p>
          <a:p>
            <a:pPr fontAlgn="base"/>
            <a:r>
              <a:rPr lang="en-US" dirty="0"/>
              <a:t>Well-</a:t>
            </a:r>
            <a:r>
              <a:rPr lang="en-US" dirty="0" err="1"/>
              <a:t>definedness</a:t>
            </a:r>
            <a:r>
              <a:rPr lang="en-US" dirty="0"/>
              <a:t>: 5/5</a:t>
            </a:r>
          </a:p>
          <a:p>
            <a:pPr fontAlgn="base"/>
            <a:r>
              <a:rPr lang="en-US" dirty="0"/>
              <a:t>Community: 5/5</a:t>
            </a:r>
          </a:p>
          <a:p>
            <a:pPr fontAlgn="base"/>
            <a:r>
              <a:rPr lang="en-US" dirty="0"/>
              <a:t>Coolness: 1/5</a:t>
            </a:r>
          </a:p>
        </p:txBody>
      </p:sp>
    </p:spTree>
    <p:extLst>
      <p:ext uri="{BB962C8B-B14F-4D97-AF65-F5344CB8AC3E}">
        <p14:creationId xmlns:p14="http://schemas.microsoft.com/office/powerpoint/2010/main" val="73534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9EF3-41DE-CC4B-BC13-224AF8FA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EAC2-0C17-9741-A4A9-1A6F151C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87608" cy="367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/>
              <a:t>36/45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A22C02-1E14-2D4E-92A5-F81E8C14B5AC}"/>
              </a:ext>
            </a:extLst>
          </p:cNvPr>
          <p:cNvSpPr txBox="1">
            <a:spLocks/>
          </p:cNvSpPr>
          <p:nvPr/>
        </p:nvSpPr>
        <p:spPr>
          <a:xfrm>
            <a:off x="6242571" y="2180496"/>
            <a:ext cx="37876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8000" dirty="0"/>
              <a:t>B-</a:t>
            </a:r>
          </a:p>
        </p:txBody>
      </p:sp>
    </p:spTree>
    <p:extLst>
      <p:ext uri="{BB962C8B-B14F-4D97-AF65-F5344CB8AC3E}">
        <p14:creationId xmlns:p14="http://schemas.microsoft.com/office/powerpoint/2010/main" val="36535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CCB8-5129-D64A-AA02-E8482303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2DDB-AEBC-764E-8743-1BAE6177E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mainly used by the stats community</a:t>
            </a:r>
          </a:p>
          <a:p>
            <a:r>
              <a:rPr lang="en-US" dirty="0"/>
              <a:t>Has a helpful community with significant support and packages</a:t>
            </a:r>
          </a:p>
          <a:p>
            <a:r>
              <a:rPr lang="en-US" dirty="0"/>
              <a:t>Consistently updated </a:t>
            </a:r>
          </a:p>
          <a:p>
            <a:r>
              <a:rPr lang="en-US" dirty="0"/>
              <a:t>Could be improved with more reliability, portability, and coolness</a:t>
            </a:r>
          </a:p>
        </p:txBody>
      </p:sp>
    </p:spTree>
    <p:extLst>
      <p:ext uri="{BB962C8B-B14F-4D97-AF65-F5344CB8AC3E}">
        <p14:creationId xmlns:p14="http://schemas.microsoft.com/office/powerpoint/2010/main" val="408036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ED24-9AD2-494D-929F-D319C0AE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5D866-423D-914E-BA07-F1442F7ED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https://www.stat.auckland.ac.nz/~ihaka/downloads/Interface98.pdf</a:t>
            </a:r>
          </a:p>
          <a:p>
            <a:r>
              <a:rPr lang="en-US" u="sng" dirty="0">
                <a:hlinkClick r:id="rId2"/>
              </a:rPr>
              <a:t>https://www.r-project.org</a:t>
            </a:r>
            <a:endParaRPr lang="en-US" u="sng" dirty="0"/>
          </a:p>
          <a:p>
            <a:r>
              <a:rPr lang="en-US" u="sng" dirty="0">
                <a:hlinkClick r:id="rId3"/>
              </a:rPr>
              <a:t>https://techvidvan.com/tutorials/r-features/</a:t>
            </a:r>
            <a:endParaRPr lang="en-US" u="sng" dirty="0"/>
          </a:p>
          <a:p>
            <a:r>
              <a:rPr lang="en-US" u="sng" dirty="0">
                <a:hlinkClick r:id="rId4"/>
              </a:rPr>
              <a:t>https://bookdown.org/csgillespie/efficientR/programming.html#the-byte-compiler</a:t>
            </a:r>
            <a:endParaRPr lang="en-US" u="sng" dirty="0"/>
          </a:p>
          <a:p>
            <a:r>
              <a:rPr lang="en-US" u="sng" dirty="0">
                <a:hlinkClick r:id="rId5"/>
              </a:rPr>
              <a:t>https://www.r-bloggers.com/2020/12/stability-portability-and-flexibility-trade-offs/</a:t>
            </a:r>
            <a:endParaRPr lang="en-US" u="sng" dirty="0"/>
          </a:p>
          <a:p>
            <a:r>
              <a:rPr lang="en-US" u="sng" dirty="0"/>
              <a:t>http://</a:t>
            </a:r>
            <a:r>
              <a:rPr lang="en-US" u="sng" dirty="0" err="1"/>
              <a:t>janvitek.org</a:t>
            </a:r>
            <a:r>
              <a:rPr lang="en-US" u="sng" dirty="0"/>
              <a:t>/pubs/ecoop12.pdf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4104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169</TotalTime>
  <Words>357</Words>
  <Application>Microsoft Macintosh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Gill Sans MT</vt:lpstr>
      <vt:lpstr>Wingdings 2</vt:lpstr>
      <vt:lpstr>Dividend</vt:lpstr>
      <vt:lpstr>R</vt:lpstr>
      <vt:lpstr>Background</vt:lpstr>
      <vt:lpstr>Rationale</vt:lpstr>
      <vt:lpstr>Code example!</vt:lpstr>
      <vt:lpstr>Programming Paradigms</vt:lpstr>
      <vt:lpstr>Design principles</vt:lpstr>
      <vt:lpstr>Evaluation</vt:lpstr>
      <vt:lpstr>Evaluation</vt:lpstr>
      <vt:lpstr>Final score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</dc:title>
  <dc:creator>Anne Wagner</dc:creator>
  <cp:lastModifiedBy>Anne Wagner</cp:lastModifiedBy>
  <cp:revision>5</cp:revision>
  <dcterms:created xsi:type="dcterms:W3CDTF">2021-11-28T15:53:55Z</dcterms:created>
  <dcterms:modified xsi:type="dcterms:W3CDTF">2021-11-29T17:17:00Z</dcterms:modified>
</cp:coreProperties>
</file>